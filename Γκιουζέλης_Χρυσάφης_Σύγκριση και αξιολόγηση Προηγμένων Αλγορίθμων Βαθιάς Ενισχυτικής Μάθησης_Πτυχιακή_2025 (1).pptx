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4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7ED4-D6FF-4541-B26A-2A1DA65D98CA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A8938-BD8B-4A8C-9E1B-9936A80E8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4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8938-BD8B-4A8C-9E1B-9936A80E8C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08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8938-BD8B-4A8C-9E1B-9936A80E8C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85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8938-BD8B-4A8C-9E1B-9936A80E8C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1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77A7-B1C7-941F-FAA7-669E0FF1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A70EB8D-8F1E-CFFA-C687-E8B7D7D84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E774C6C-6EA8-7D3B-1538-EF796A71C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BE0D9FA-8ED4-2A91-9839-54C3D8121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A8938-BD8B-4A8C-9E1B-9936A80E8C4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7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74B43B4-A9A0-4F92-A6B7-B90734008402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0422-A531-41B2-B154-EE096F81FF08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7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73A96-F235-444E-83DD-22B4C243AB56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62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462FB-E283-4F1E-A63C-F8289F28A47D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4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FFD9-1387-480D-806D-BB708D2E43C7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67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1298-9C71-47E3-B91B-3EC303C1B2AA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94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9FE8B-2068-4E72-9783-E2BA7131DBE4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7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8797-61B4-47FE-A1DA-A5EB86B8FE9D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44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88DB-677E-46EA-81B2-80C819008C72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4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9EDC6-567F-4843-A430-727A949BFE5B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48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13BF-354B-4FEC-B229-DA3F3906FA42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5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3C29-3DC2-4B2C-A939-ADBDCF2D333F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385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1C80-9520-4DA0-BA80-D6B1E481D4E7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7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στήλε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DFD7-2DBA-4B32-9539-8DC232EA542A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90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τήλη 3 εικόνω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876E9-3A21-4456-A4D2-03965AE29C41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579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2CB33-55A1-4B95-A21A-FA357A85A7EE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165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03DF-16AE-4523-B4DA-499A8A2A8555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2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95AAF-533D-40A8-8C9F-C3E878FEB7D6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9870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79A9A42-5290-6049-87CB-B62790EE2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715" y="1957250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l-GR" dirty="0"/>
              <a:t>ΣΥΓΚΡΙΣΗ ΚΑΙ ΑΞΙΟΛΟΓΗΣΗ ΠΡΟΗΓΜΕΝΩΝ ΑΛΓΟΡΙΘΜΩΝ ΒΑΘΙΑΣ ΕΝΙΣΧΥΤΙΚΗΣ ΜΑΘΗΣΗΣ</a:t>
            </a:r>
            <a:br>
              <a:rPr lang="el-GR" dirty="0"/>
            </a:br>
            <a:r>
              <a:rPr lang="el-GR" dirty="0"/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3D285-15AA-498D-C777-3B4FC6C9D614}"/>
              </a:ext>
            </a:extLst>
          </p:cNvPr>
          <p:cNvSpPr txBox="1"/>
          <p:nvPr/>
        </p:nvSpPr>
        <p:spPr>
          <a:xfrm>
            <a:off x="3043981" y="4581939"/>
            <a:ext cx="6361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Γκιουζέλης Χρυσάφης</a:t>
            </a:r>
          </a:p>
          <a:p>
            <a:pPr algn="ctr"/>
            <a:r>
              <a:rPr lang="el-GR" dirty="0"/>
              <a:t>ΑΕΜ: 4223</a:t>
            </a:r>
          </a:p>
          <a:p>
            <a:pPr algn="ctr"/>
            <a:r>
              <a:rPr lang="el-GR" dirty="0"/>
              <a:t>Επιβλέπων</a:t>
            </a:r>
            <a:r>
              <a:rPr lang="en-US" dirty="0"/>
              <a:t> </a:t>
            </a:r>
            <a:r>
              <a:rPr lang="el-GR" dirty="0"/>
              <a:t>Καθηγητής: Ιωάννης Βλαχάβας</a:t>
            </a:r>
          </a:p>
          <a:p>
            <a:pPr algn="ctr"/>
            <a:r>
              <a:rPr lang="el-GR" dirty="0"/>
              <a:t>Συνεπιβλέπων: Βασίλειος Κοχλιαρίδης</a:t>
            </a:r>
            <a:endParaRPr lang="en-US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55C3C9B6-B631-173F-5CCF-3E769A0B7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639" y="0"/>
            <a:ext cx="1553361" cy="154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79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115A17A-455E-E19D-BF4B-D31F3BF7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1429"/>
            <a:ext cx="9905998" cy="1478570"/>
          </a:xfrm>
        </p:spPr>
        <p:txBody>
          <a:bodyPr/>
          <a:lstStyle/>
          <a:p>
            <a:r>
              <a:rPr lang="el-GR" dirty="0"/>
              <a:t>ΣΤΟΧΟΣ ΠΤΥΧΙΑΚΗΣ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63F00AA-D673-09E8-EBC8-0391B6B56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7581899" cy="4279483"/>
          </a:xfrm>
        </p:spPr>
        <p:txBody>
          <a:bodyPr/>
          <a:lstStyle/>
          <a:p>
            <a:r>
              <a:rPr lang="el-GR" dirty="0"/>
              <a:t>Δοκιμή προηγμένων αλγορίθμων βαθιάς ενισχυτικής μάθησης σε περιβάλλοντα εκπαίδευσης.</a:t>
            </a:r>
          </a:p>
          <a:p>
            <a:r>
              <a:rPr lang="el-GR" dirty="0"/>
              <a:t>Σύγκριση των επιδόσεων τους.</a:t>
            </a:r>
          </a:p>
          <a:p>
            <a:r>
              <a:rPr lang="el-GR" dirty="0"/>
              <a:t>Περιβάλλοντα εκπαίδευσης: </a:t>
            </a:r>
          </a:p>
          <a:p>
            <a:pPr lvl="1"/>
            <a:r>
              <a:rPr lang="en-US" b="1" dirty="0"/>
              <a:t>Pong</a:t>
            </a:r>
            <a:r>
              <a:rPr lang="en-US" dirty="0"/>
              <a:t> </a:t>
            </a:r>
            <a:r>
              <a:rPr lang="el-GR" dirty="0"/>
              <a:t>(Ευκολία: </a:t>
            </a:r>
            <a:r>
              <a:rPr lang="en-US" dirty="0"/>
              <a:t>Easy)</a:t>
            </a:r>
            <a:endParaRPr lang="el-GR" dirty="0"/>
          </a:p>
          <a:p>
            <a:pPr lvl="1"/>
            <a:r>
              <a:rPr lang="en-US" b="1" dirty="0"/>
              <a:t>Space Invaders (</a:t>
            </a:r>
            <a:r>
              <a:rPr lang="el-GR" dirty="0"/>
              <a:t>Ευκολία: </a:t>
            </a:r>
            <a:r>
              <a:rPr lang="en-US" dirty="0"/>
              <a:t>Hard)</a:t>
            </a:r>
          </a:p>
        </p:txBody>
      </p:sp>
      <p:pic>
        <p:nvPicPr>
          <p:cNvPr id="5" name="Εικόνα 4" descr="GitHub - adityasaxena26/Atari-Pong-Agent-using-OpenAI-Gym: Trained a  Convolutional Neural Network to use OpenAI gym to play Atari 2600 game Pong  using input frames of the game.">
            <a:extLst>
              <a:ext uri="{FF2B5EF4-FFF2-40B4-BE49-F238E27FC236}">
                <a16:creationId xmlns:a16="http://schemas.microsoft.com/office/drawing/2014/main" id="{F985FDEC-7EF5-0D2B-FD78-507BBF731A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8" r="21459"/>
          <a:stretch/>
        </p:blipFill>
        <p:spPr bwMode="auto">
          <a:xfrm>
            <a:off x="9349221" y="618518"/>
            <a:ext cx="2324100" cy="30530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Εικόνα 5" descr="Atari 2600 Space Invaders">
            <a:extLst>
              <a:ext uri="{FF2B5EF4-FFF2-40B4-BE49-F238E27FC236}">
                <a16:creationId xmlns:a16="http://schemas.microsoft.com/office/drawing/2014/main" id="{D2D5FD2D-1518-F129-DD20-EFECAFB92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119" y="4236829"/>
            <a:ext cx="2794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Θέση αριθμού διαφάνειας 3">
            <a:extLst>
              <a:ext uri="{FF2B5EF4-FFF2-40B4-BE49-F238E27FC236}">
                <a16:creationId xmlns:a16="http://schemas.microsoft.com/office/drawing/2014/main" id="{69460CF7-EE08-555D-12F3-B387BAEA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8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F8FE6C-8033-35D9-A530-696309FD9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93871"/>
            <a:ext cx="9905998" cy="1478570"/>
          </a:xfrm>
        </p:spPr>
        <p:txBody>
          <a:bodyPr/>
          <a:lstStyle/>
          <a:p>
            <a:r>
              <a:rPr lang="el-GR" dirty="0"/>
              <a:t>ΑΛΓΟΡΙΘΜΟΙ ΕΚΠΑΙΔΕΥΣΗΣ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CE21158-DA0E-BED3-4C35-B9E43AD35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82169"/>
            <a:ext cx="9905998" cy="4500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1800" b="1" dirty="0"/>
              <a:t>Ενισχυτική μάθηση</a:t>
            </a:r>
            <a:r>
              <a:rPr lang="el-GR" sz="1800" dirty="0"/>
              <a:t>: Ένας πράκτορας αλληλεπιδρά με το περιβάλλον εκτελώντας ενέργειες με βάση την κατάσταση που βρίσκεται στοχεύοντας στην μεγιστοποίηση των ανταμοιβών που λαμβάνει.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6BAB925-40D2-11DD-3CAC-777F5FC2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A13DA8B1-37BD-9B76-FFD1-4784F8CB2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218" b="89983" l="9930" r="98997">
                        <a14:foregroundMark x1="24875" y1="50950" x2="24875" y2="50950"/>
                        <a14:foregroundMark x1="93781" y1="51813" x2="93781" y2="51813"/>
                        <a14:foregroundMark x1="97593" y1="52850" x2="97593" y2="52850"/>
                        <a14:foregroundMark x1="98495" y1="37478" x2="98495" y2="37478"/>
                        <a14:foregroundMark x1="24574" y1="62003" x2="24574" y2="62003"/>
                        <a14:foregroundMark x1="26479" y1="75130" x2="26479" y2="75130"/>
                        <a14:foregroundMark x1="25577" y1="84629" x2="25577" y2="84629"/>
                        <a14:foregroundMark x1="57673" y1="58204" x2="57673" y2="58204"/>
                        <a14:foregroundMark x1="55165" y1="48014" x2="55165" y2="48014"/>
                        <a14:foregroundMark x1="59378" y1="6218" x2="59378" y2="6218"/>
                        <a14:foregroundMark x1="98997" y1="51813" x2="98997" y2="51813"/>
                        <a14:foregroundMark x1="98997" y1="35060" x2="98997" y2="35060"/>
                        <a14:foregroundMark x1="62187" y1="60449" x2="62187" y2="60449"/>
                        <a14:backgroundMark x1="63089" y1="48877" x2="63089" y2="48877"/>
                        <a14:backgroundMark x1="63089" y1="47150" x2="63089" y2="471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44642" y="2718208"/>
            <a:ext cx="7128451" cy="41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6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7397A03-5EA8-AB28-B1D1-A9BE6089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DI-ENGINE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1EEF02D-E5E1-2962-A9E6-66D3DA099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0086"/>
            <a:ext cx="6051358" cy="43974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l-GR" dirty="0"/>
              <a:t>Το </a:t>
            </a:r>
            <a:r>
              <a:rPr lang="en-US" dirty="0"/>
              <a:t>DI-engine </a:t>
            </a:r>
            <a:r>
              <a:rPr lang="el-GR" dirty="0"/>
              <a:t>είναι το βασικό </a:t>
            </a:r>
            <a:r>
              <a:rPr lang="en-US" dirty="0"/>
              <a:t>framework </a:t>
            </a:r>
            <a:r>
              <a:rPr lang="el-GR" dirty="0"/>
              <a:t>που χρησιμοποιήθηκε για την παροχή και εκπαίδευση των αλγορίθμων. Η εκπαίδευση γίνεται μέσω της συνάρτησης </a:t>
            </a:r>
            <a:r>
              <a:rPr lang="en-US" dirty="0"/>
              <a:t>serial_pipeline.</a:t>
            </a:r>
            <a:endParaRPr lang="el-GR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Config: </a:t>
            </a:r>
            <a:r>
              <a:rPr lang="el-GR" dirty="0"/>
              <a:t>ορισμός υπερ-παραμέτρων 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Δημιουργία περιβάλλοντος και πολιτικής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Κατασκευή επιμέρους </a:t>
            </a:r>
            <a:r>
              <a:rPr lang="en-US" dirty="0"/>
              <a:t>worker: Learner, Collector, Evaluator, Replay Buffer </a:t>
            </a:r>
            <a:r>
              <a:rPr lang="el-GR" dirty="0"/>
              <a:t>και </a:t>
            </a:r>
            <a:r>
              <a:rPr lang="en-US" dirty="0"/>
              <a:t>Commander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Κύκλος εκπαίδευσης με συνεργασία των </a:t>
            </a:r>
            <a:r>
              <a:rPr lang="en-US" dirty="0"/>
              <a:t>worker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Επιστροφή εκπαιδευμένης πολιτικής όταν γίνει αληθής κάποια συνθήκη τερματισμού</a:t>
            </a:r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F47CA5C-8E5D-E731-1871-0CCCCBC5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2011EB3F-B840-D3A2-3CDF-80F4DEBBD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770" y="1950086"/>
            <a:ext cx="4628540" cy="3696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175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F623B91-E3A6-E5C1-BD3A-57DD0B73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78034"/>
            <a:ext cx="9905998" cy="1478570"/>
          </a:xfrm>
        </p:spPr>
        <p:txBody>
          <a:bodyPr/>
          <a:lstStyle/>
          <a:p>
            <a:r>
              <a:rPr lang="el-GR" dirty="0"/>
              <a:t>ΑΠΟΤΕΛΕΣΜΑΤΑ ΕΚΠΑΙΔΕΥΣΗΣ ΣΤΟ </a:t>
            </a:r>
            <a:r>
              <a:rPr lang="en-US" dirty="0"/>
              <a:t>PONG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56C6F63-AC6D-AEC7-BDBD-7F3BF1E17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5444" y="1935925"/>
            <a:ext cx="3737498" cy="4543409"/>
          </a:xfrm>
        </p:spPr>
        <p:txBody>
          <a:bodyPr>
            <a:normAutofit fontScale="70000" lnSpcReduction="20000"/>
          </a:bodyPr>
          <a:lstStyle/>
          <a:p>
            <a:r>
              <a:rPr lang="el-GR" dirty="0"/>
              <a:t>Όλοι οι αλγόριθμοι επιτυγχάνουν την μέση ανταμοιβή 20 που αποτελεί συνθήκη τερματισμού</a:t>
            </a:r>
          </a:p>
          <a:p>
            <a:r>
              <a:rPr lang="en-US" dirty="0"/>
              <a:t>IMPALA</a:t>
            </a:r>
            <a:r>
              <a:rPr lang="el-GR" dirty="0"/>
              <a:t>, </a:t>
            </a:r>
            <a:r>
              <a:rPr lang="en-US" dirty="0"/>
              <a:t>PPO</a:t>
            </a:r>
            <a:r>
              <a:rPr lang="el-GR" dirty="0"/>
              <a:t>:</a:t>
            </a:r>
            <a:r>
              <a:rPr lang="en-US" dirty="0"/>
              <a:t> </a:t>
            </a:r>
            <a:r>
              <a:rPr lang="el-GR" dirty="0"/>
              <a:t>πολύ γρήγορη σύγκλιση λόγω της άμεσης προσέγγισης τους </a:t>
            </a:r>
            <a:r>
              <a:rPr lang="en-US" dirty="0"/>
              <a:t>(Policy Gradient)</a:t>
            </a:r>
            <a:endParaRPr lang="el-GR" dirty="0"/>
          </a:p>
          <a:p>
            <a:r>
              <a:rPr lang="en-US" dirty="0"/>
              <a:t>R2D2</a:t>
            </a:r>
            <a:r>
              <a:rPr lang="el-GR" dirty="0"/>
              <a:t>:</a:t>
            </a:r>
            <a:r>
              <a:rPr lang="en-US" dirty="0"/>
              <a:t> </a:t>
            </a:r>
            <a:r>
              <a:rPr lang="el-GR" dirty="0"/>
              <a:t>ικανοποιητική απόδοση, επιβαρύνεται λόγω της πολυπλοκότητας του</a:t>
            </a:r>
          </a:p>
          <a:p>
            <a:r>
              <a:rPr lang="el-GR" dirty="0"/>
              <a:t>Οι υπόλοιποι αλγόριθμοι χρειάζονται περισσότερα βήματα λόγω της μεγαλύτερης έμφασης στην εξερεύνηση του περιβάλλοντος που δεν απαιτείται στο συγκεκριμένο περιβάλλον</a:t>
            </a:r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2757A94-6B12-C395-9BA5-31AE8202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457934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1291387A-4043-9DAF-6EFF-59992BB82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223" y="2300329"/>
            <a:ext cx="6356667" cy="3814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929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677542-BD2B-D601-7B8A-21B5BEA4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01015"/>
            <a:ext cx="9905998" cy="1478570"/>
          </a:xfrm>
        </p:spPr>
        <p:txBody>
          <a:bodyPr/>
          <a:lstStyle/>
          <a:p>
            <a:r>
              <a:rPr lang="el-GR" dirty="0"/>
              <a:t>ΑΠΟΤΕΛΕΣΜΑΤΑ ΕΚΠΑΙΔΕΥΣΗΣ ΣΤΟ </a:t>
            </a:r>
            <a:r>
              <a:rPr lang="en-US" dirty="0"/>
              <a:t>SPACEINVADERS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8A2840B-E6FC-A5A2-522B-DF3E1B4D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7E572887-37E3-CEDB-B20C-9CCD38745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472" y="1969072"/>
            <a:ext cx="6653649" cy="3992816"/>
          </a:xfrm>
          <a:prstGeom prst="rect">
            <a:avLst/>
          </a:prstGeom>
          <a:noFill/>
        </p:spPr>
      </p:pic>
      <p:sp>
        <p:nvSpPr>
          <p:cNvPr id="6" name="Θέση περιεχομένου 2">
            <a:extLst>
              <a:ext uri="{FF2B5EF4-FFF2-40B4-BE49-F238E27FC236}">
                <a16:creationId xmlns:a16="http://schemas.microsoft.com/office/drawing/2014/main" id="{FAB59DAD-16BC-3792-CA4B-0D15EBDCC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9180" y="1879585"/>
            <a:ext cx="3737498" cy="4543409"/>
          </a:xfrm>
        </p:spPr>
        <p:txBody>
          <a:bodyPr>
            <a:normAutofit fontScale="55000" lnSpcReduction="20000"/>
          </a:bodyPr>
          <a:lstStyle/>
          <a:p>
            <a:r>
              <a:rPr lang="el-GR" sz="2500" dirty="0"/>
              <a:t>Σε αντίθεση με το </a:t>
            </a:r>
            <a:r>
              <a:rPr lang="en-US" sz="2500" dirty="0"/>
              <a:t>Pong</a:t>
            </a:r>
            <a:r>
              <a:rPr lang="el-GR" sz="2500" dirty="0"/>
              <a:t>, δεν υπάρχει κάποιος τερματικός στόχος για τις ανταμοιβές και συνεπώς αξιολογείται η επίδοση των αλγορίθμων μετά από 500</a:t>
            </a:r>
            <a:r>
              <a:rPr lang="en-US" sz="2500" dirty="0"/>
              <a:t>k</a:t>
            </a:r>
            <a:r>
              <a:rPr lang="el-GR" sz="2500" dirty="0"/>
              <a:t> βήματα.</a:t>
            </a:r>
            <a:endParaRPr lang="en-US" sz="2500" dirty="0"/>
          </a:p>
          <a:p>
            <a:r>
              <a:rPr lang="en-US" sz="2500" dirty="0"/>
              <a:t>R</a:t>
            </a:r>
            <a:r>
              <a:rPr lang="el-GR" sz="2500" dirty="0"/>
              <a:t>2</a:t>
            </a:r>
            <a:r>
              <a:rPr lang="en-US" sz="2500" dirty="0"/>
              <a:t>D</a:t>
            </a:r>
            <a:r>
              <a:rPr lang="el-GR" sz="2500" dirty="0"/>
              <a:t>2</a:t>
            </a:r>
            <a:r>
              <a:rPr lang="en-US" sz="2500" dirty="0"/>
              <a:t>: </a:t>
            </a:r>
            <a:r>
              <a:rPr lang="el-GR" sz="2500" dirty="0"/>
              <a:t>Πετυχαίνει την καλύτερη επίδοση, όμως ο </a:t>
            </a:r>
            <a:r>
              <a:rPr lang="en-US" sz="2500" dirty="0"/>
              <a:t>MuZero </a:t>
            </a:r>
            <a:r>
              <a:rPr lang="el-GR" sz="2500" dirty="0"/>
              <a:t>μακροπρόθεσμα τον ξεπερνά</a:t>
            </a:r>
          </a:p>
          <a:p>
            <a:r>
              <a:rPr lang="en-US" sz="2500" dirty="0"/>
              <a:t>PPO: </a:t>
            </a:r>
            <a:r>
              <a:rPr lang="el-GR" sz="2500" dirty="0"/>
              <a:t>Φτάνει πολύ γρήγορα τις 500 μονάδες όμως παγιδεύεται σε τοπικό μέγιστο</a:t>
            </a:r>
          </a:p>
          <a:p>
            <a:r>
              <a:rPr lang="el-GR" sz="2500" dirty="0"/>
              <a:t>Οι υπόλοιποι αλγόριθμοι επιτυγχάνουν αρκετά χαμηλότερες ανταμοιβές, όμως εκτός του </a:t>
            </a:r>
            <a:r>
              <a:rPr lang="en-US" sz="2500" dirty="0"/>
              <a:t>IMPALA,</a:t>
            </a:r>
            <a:r>
              <a:rPr lang="el-GR" sz="2500" dirty="0"/>
              <a:t> έχουν γραμμική ανοδική πορεία</a:t>
            </a:r>
          </a:p>
          <a:p>
            <a:r>
              <a:rPr lang="el-GR" sz="2500" dirty="0"/>
              <a:t>Το περιβάλλον αποδεικνύεται ιδιαίτερα απαιτητικό και ευνοεί αλγορίθμους με σύνθετες στρατηγικές μάθησης και εξερεύνησης</a:t>
            </a:r>
            <a:endParaRPr lang="en-US" sz="25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76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A86A5D1">
            <a:hlinkClick r:id="" action="ppaction://media"/>
            <a:extLst>
              <a:ext uri="{FF2B5EF4-FFF2-40B4-BE49-F238E27FC236}">
                <a16:creationId xmlns:a16="http://schemas.microsoft.com/office/drawing/2014/main" id="{1A78A8E6-45F4-94E4-BA12-AA4AF2CF6E4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48534" y="873237"/>
            <a:ext cx="3894932" cy="5111525"/>
          </a:xfrm>
        </p:spPr>
      </p:pic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F7B4B86-2DD5-4199-0329-8AFD958C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0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28C803F-DA58-2FB4-B797-8F176DF9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ΜΕΛΛΟΝΤΙΚΗ ΕΡΕΥΝΑ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D3993C9-33B6-8AF2-F4FE-5B83FE68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Περισσότερα περιβάλλοντα διαβαθμισμένης δυσκολίας </a:t>
            </a:r>
          </a:p>
          <a:p>
            <a:r>
              <a:rPr lang="el-GR" dirty="0"/>
              <a:t>Εφαρμογή </a:t>
            </a:r>
            <a:r>
              <a:rPr lang="en-US" dirty="0"/>
              <a:t>Model-Based </a:t>
            </a:r>
            <a:r>
              <a:rPr lang="el-GR" dirty="0"/>
              <a:t>αλγορίθμων σε πολύπλοκα περιβάλλοντα</a:t>
            </a:r>
          </a:p>
          <a:p>
            <a:r>
              <a:rPr lang="el-GR" dirty="0"/>
              <a:t>Επεκτάσεις στους αλγόριθμους που εκπαιδεύτηκαν (π.χ. </a:t>
            </a:r>
            <a:r>
              <a:rPr lang="en-US" dirty="0"/>
              <a:t>RNN, ICM, RND)</a:t>
            </a:r>
          </a:p>
          <a:p>
            <a:r>
              <a:rPr lang="el-GR" dirty="0"/>
              <a:t>Χρήση μοντέλων </a:t>
            </a:r>
            <a:r>
              <a:rPr lang="en-US" dirty="0"/>
              <a:t>Transformer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5466A57-5432-B663-CB54-DDCC96F2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41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883DD68-735A-0BD5-060B-C60CC618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70517"/>
            <a:ext cx="9905999" cy="5320684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l-GR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l-GR" dirty="0"/>
          </a:p>
          <a:p>
            <a:pPr marL="0" indent="0" algn="ctr">
              <a:buNone/>
            </a:pPr>
            <a:r>
              <a:rPr lang="el-GR" sz="3600" dirty="0"/>
              <a:t>Σας ευχαριστώ για την προσοχή σας!</a:t>
            </a:r>
          </a:p>
          <a:p>
            <a:pPr marL="0" indent="0" algn="ctr">
              <a:buNone/>
            </a:pPr>
            <a:br>
              <a:rPr lang="el-G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22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C324-CC5D-ECC1-1F66-1B4A9CB0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D48489-B375-2729-BC4C-DACFBC234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715" y="1957250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l-GR" dirty="0"/>
              <a:t>ΣΥΓΚΡΙΣΗ ΚΑΙ ΑΞΙΟΛΟΓΗΣΗ ΠΡΟΗΓΜΕΝΩΝ ΑΛΓΟΡΙΘΜΩΝ ΒΑΘΙΑΣ ΕΝΙΣΧΥΤΙΚΗΣ ΜΑΘΗΣΗΣ</a:t>
            </a:r>
            <a:br>
              <a:rPr lang="el-GR" dirty="0"/>
            </a:br>
            <a:r>
              <a:rPr lang="el-GR" dirty="0"/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5DA1C-C80D-6EE2-2A3A-9AE29CC62564}"/>
              </a:ext>
            </a:extLst>
          </p:cNvPr>
          <p:cNvSpPr txBox="1"/>
          <p:nvPr/>
        </p:nvSpPr>
        <p:spPr>
          <a:xfrm>
            <a:off x="3043981" y="4581939"/>
            <a:ext cx="6361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Γκιουζέλης Χρυσάφης</a:t>
            </a:r>
          </a:p>
          <a:p>
            <a:pPr algn="ctr"/>
            <a:r>
              <a:rPr lang="el-GR" dirty="0"/>
              <a:t>ΑΕΜ: 4223</a:t>
            </a:r>
          </a:p>
          <a:p>
            <a:pPr algn="ctr"/>
            <a:r>
              <a:rPr lang="el-GR" dirty="0"/>
              <a:t>Επιβλέπων</a:t>
            </a:r>
            <a:r>
              <a:rPr lang="en-US" dirty="0"/>
              <a:t> </a:t>
            </a:r>
            <a:r>
              <a:rPr lang="el-GR" dirty="0"/>
              <a:t>Καθηγητής: Ιωάννης Βλαχάβας</a:t>
            </a:r>
          </a:p>
          <a:p>
            <a:pPr algn="ctr"/>
            <a:r>
              <a:rPr lang="el-GR" dirty="0"/>
              <a:t>Συνεπιβλέπων: Βασίλειος Κοχλιαρίδης</a:t>
            </a:r>
            <a:endParaRPr lang="en-US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6118C34C-19D3-59D9-F88A-28EE3B3BD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639" y="0"/>
            <a:ext cx="1553361" cy="154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7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Κύκλωμα">
  <a:themeElements>
    <a:clrScheme name="Πνοή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Κύκλωμα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Κύκλωμα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Κύκλωμα</Template>
  <TotalTime>960</TotalTime>
  <Words>375</Words>
  <Application>Microsoft Office PowerPoint</Application>
  <PresentationFormat>Ευρεία οθόνη</PresentationFormat>
  <Paragraphs>58</Paragraphs>
  <Slides>10</Slides>
  <Notes>4</Notes>
  <HiddenSlides>0</HiddenSlides>
  <MMClips>1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Κύκλωμα</vt:lpstr>
      <vt:lpstr>ΣΥΓΚΡΙΣΗ ΚΑΙ ΑΞΙΟΛΟΓΗΣΗ ΠΡΟΗΓΜΕΝΩΝ ΑΛΓΟΡΙΘΜΩΝ ΒΑΘΙΑΣ ΕΝΙΣΧΥΤΙΚΗΣ ΜΑΘΗΣΗΣ  </vt:lpstr>
      <vt:lpstr>ΣΤΟΧΟΣ ΠΤΥΧΙΑΚΗΣ</vt:lpstr>
      <vt:lpstr>ΑΛΓΟΡΙΘΜΟΙ ΕΚΠΑΙΔΕΥΣΗΣ</vt:lpstr>
      <vt:lpstr>DI-ENGINE</vt:lpstr>
      <vt:lpstr>ΑΠΟΤΕΛΕΣΜΑΤΑ ΕΚΠΑΙΔΕΥΣΗΣ ΣΤΟ PONG</vt:lpstr>
      <vt:lpstr>ΑΠΟΤΕΛΕΣΜΑΤΑ ΕΚΠΑΙΔΕΥΣΗΣ ΣΤΟ SPACEINVADERS</vt:lpstr>
      <vt:lpstr>Παρουσίαση του PowerPoint</vt:lpstr>
      <vt:lpstr>ΜΕΛΛΟΝΤΙΚΗ ΕΡΕΥΝΑ</vt:lpstr>
      <vt:lpstr>Παρουσίαση του PowerPoint</vt:lpstr>
      <vt:lpstr>ΣΥΓΚΡΙΣΗ ΚΑΙ ΑΞΙΟΛΟΓΗΣΗ ΠΡΟΗΓΜΕΝΩΝ ΑΛΓΟΡΙΘΜΩΝ ΒΑΘΙΑΣ ΕΝΙΣΧΥΤΙΚΗΣ ΜΑΘΗΣΗΣ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Xrisafis Giou</dc:creator>
  <cp:lastModifiedBy>Xrisafis Giou</cp:lastModifiedBy>
  <cp:revision>87</cp:revision>
  <dcterms:created xsi:type="dcterms:W3CDTF">2025-06-29T06:39:56Z</dcterms:created>
  <dcterms:modified xsi:type="dcterms:W3CDTF">2025-07-07T11:52:55Z</dcterms:modified>
</cp:coreProperties>
</file>